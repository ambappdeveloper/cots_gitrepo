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D5E6E-8B35-459F-9ACF-4236196CB73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9A1B0-F7BC-4D3E-AF22-E2AB27432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575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D5E6E-8B35-459F-9ACF-4236196CB73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9A1B0-F7BC-4D3E-AF22-E2AB27432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190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D5E6E-8B35-459F-9ACF-4236196CB73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9A1B0-F7BC-4D3E-AF22-E2AB27432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010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D5E6E-8B35-459F-9ACF-4236196CB73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9A1B0-F7BC-4D3E-AF22-E2AB27432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922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D5E6E-8B35-459F-9ACF-4236196CB73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9A1B0-F7BC-4D3E-AF22-E2AB27432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6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D5E6E-8B35-459F-9ACF-4236196CB73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9A1B0-F7BC-4D3E-AF22-E2AB27432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824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D5E6E-8B35-459F-9ACF-4236196CB73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9A1B0-F7BC-4D3E-AF22-E2AB27432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02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D5E6E-8B35-459F-9ACF-4236196CB73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9A1B0-F7BC-4D3E-AF22-E2AB27432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692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D5E6E-8B35-459F-9ACF-4236196CB73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9A1B0-F7BC-4D3E-AF22-E2AB27432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254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D5E6E-8B35-459F-9ACF-4236196CB73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9A1B0-F7BC-4D3E-AF22-E2AB27432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639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D5E6E-8B35-459F-9ACF-4236196CB73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9A1B0-F7BC-4D3E-AF22-E2AB27432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720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D5E6E-8B35-459F-9ACF-4236196CB73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9A1B0-F7BC-4D3E-AF22-E2AB27432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418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3E5F11F3-6B21-4119-BA84-6A6F1F84B71A}"/>
              </a:ext>
            </a:extLst>
          </p:cNvPr>
          <p:cNvSpPr txBox="1">
            <a:spLocks/>
          </p:cNvSpPr>
          <p:nvPr/>
        </p:nvSpPr>
        <p:spPr>
          <a:xfrm>
            <a:off x="1073426" y="1848122"/>
            <a:ext cx="10363200" cy="80865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dirty="0" smtClean="0"/>
              <a:t>AFRICA</a:t>
            </a:r>
            <a:endParaRPr lang="en-US" sz="5400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F1C44514-043B-428B-8ECD-28973D6DC15B}"/>
              </a:ext>
            </a:extLst>
          </p:cNvPr>
          <p:cNvSpPr txBox="1">
            <a:spLocks/>
          </p:cNvSpPr>
          <p:nvPr/>
        </p:nvSpPr>
        <p:spPr>
          <a:xfrm>
            <a:off x="2173357" y="3000929"/>
            <a:ext cx="8534400" cy="964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Quality  Management</a:t>
            </a:r>
          </a:p>
        </p:txBody>
      </p:sp>
    </p:spTree>
    <p:extLst>
      <p:ext uri="{BB962C8B-B14F-4D97-AF65-F5344CB8AC3E}">
        <p14:creationId xmlns:p14="http://schemas.microsoft.com/office/powerpoint/2010/main" val="3994445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xmlns="" id="{1A1F18A9-9C6F-CB4D-AD90-EAE2CB83709E}"/>
              </a:ext>
            </a:extLst>
          </p:cNvPr>
          <p:cNvSpPr txBox="1"/>
          <p:nvPr/>
        </p:nvSpPr>
        <p:spPr>
          <a:xfrm>
            <a:off x="2142646" y="490535"/>
            <a:ext cx="6453188" cy="646331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lvl="0" algn="just">
              <a:defRPr/>
            </a:pPr>
            <a:r>
              <a:rPr lang="en-GB" sz="3600" b="1" dirty="0"/>
              <a:t>QM Master Data</a:t>
            </a:r>
            <a:endParaRPr lang="en-US" sz="3600" b="1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xmlns="" id="{A35ABE80-32D6-5A40-A155-27FCDEA9120A}"/>
              </a:ext>
            </a:extLst>
          </p:cNvPr>
          <p:cNvSpPr/>
          <p:nvPr/>
        </p:nvSpPr>
        <p:spPr bwMode="gray">
          <a:xfrm>
            <a:off x="1944210" y="2451004"/>
            <a:ext cx="2190885" cy="678823"/>
          </a:xfrm>
          <a:prstGeom prst="round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 w="57150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90000" tIns="72000" rIns="90000" bIns="7200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xmlns="" id="{778B0685-6E8F-364C-BC28-A1664560128C}"/>
              </a:ext>
            </a:extLst>
          </p:cNvPr>
          <p:cNvSpPr/>
          <p:nvPr/>
        </p:nvSpPr>
        <p:spPr bwMode="gray">
          <a:xfrm>
            <a:off x="7944192" y="4759547"/>
            <a:ext cx="2279650" cy="608547"/>
          </a:xfrm>
          <a:prstGeom prst="round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 w="57150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90000" tIns="72000" rIns="90000" bIns="7200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en-US" kern="0" dirty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xmlns="" id="{2ADAFEA6-E060-E84D-A5A3-1376795F158C}"/>
              </a:ext>
            </a:extLst>
          </p:cNvPr>
          <p:cNvSpPr/>
          <p:nvPr/>
        </p:nvSpPr>
        <p:spPr bwMode="gray">
          <a:xfrm>
            <a:off x="5224004" y="5443535"/>
            <a:ext cx="2005012" cy="477746"/>
          </a:xfrm>
          <a:prstGeom prst="round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 w="57150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90000" tIns="72000" rIns="90000" bIns="7200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en-US" kern="0" dirty="0">
              <a:ea typeface="Arial Unicode MS" pitchFamily="34" charset="-128"/>
              <a:cs typeface="Arial Unicode MS" pitchFamily="34" charset="-128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CC853332-A79C-0142-A377-A3E3E885A754}"/>
              </a:ext>
            </a:extLst>
          </p:cNvPr>
          <p:cNvGrpSpPr/>
          <p:nvPr/>
        </p:nvGrpSpPr>
        <p:grpSpPr>
          <a:xfrm>
            <a:off x="1950598" y="1404935"/>
            <a:ext cx="8076657" cy="4440653"/>
            <a:chOff x="348470" y="1612900"/>
            <a:chExt cx="8076657" cy="4440653"/>
          </a:xfrm>
        </p:grpSpPr>
        <p:pic>
          <p:nvPicPr>
            <p:cNvPr id="24" name="Picture 23" descr="LogistikStammdatenInDerQualitatsplanung01">
              <a:extLst>
                <a:ext uri="{FF2B5EF4-FFF2-40B4-BE49-F238E27FC236}">
                  <a16:creationId xmlns:a16="http://schemas.microsoft.com/office/drawing/2014/main" xmlns="" id="{074B26A1-60F6-AF48-A9FE-A445A64205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698" t="22484" r="38028" b="21777"/>
            <a:stretch>
              <a:fillRect/>
            </a:stretch>
          </p:blipFill>
          <p:spPr bwMode="auto">
            <a:xfrm>
              <a:off x="3348038" y="2682875"/>
              <a:ext cx="2266950" cy="2251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Text Box 13">
              <a:extLst>
                <a:ext uri="{FF2B5EF4-FFF2-40B4-BE49-F238E27FC236}">
                  <a16:creationId xmlns:a16="http://schemas.microsoft.com/office/drawing/2014/main" xmlns="" id="{F1DD1E22-9417-D448-A524-5C6ADFD449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8100" y="3797300"/>
              <a:ext cx="1555750" cy="822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en-US" altLang="en-US" sz="2400" dirty="0"/>
                <a:t>MASTER </a:t>
              </a:r>
            </a:p>
            <a:p>
              <a:pPr algn="ctr" eaLnBrk="1" hangingPunct="1"/>
              <a:r>
                <a:rPr lang="en-US" altLang="en-US" sz="2400" dirty="0"/>
                <a:t>DATA</a:t>
              </a:r>
            </a:p>
          </p:txBody>
        </p:sp>
        <p:sp>
          <p:nvSpPr>
            <p:cNvPr id="26" name="AutoShape 14">
              <a:extLst>
                <a:ext uri="{FF2B5EF4-FFF2-40B4-BE49-F238E27FC236}">
                  <a16:creationId xmlns:a16="http://schemas.microsoft.com/office/drawing/2014/main" xmlns="" id="{706929FC-A498-C248-8C02-981361AF490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180684">
              <a:off x="4357688" y="2185988"/>
              <a:ext cx="495300" cy="479425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/>
              <a:endParaRPr lang="en-US" altLang="en-US" dirty="0"/>
            </a:p>
          </p:txBody>
        </p:sp>
        <p:sp>
          <p:nvSpPr>
            <p:cNvPr id="27" name="AutoShape 15">
              <a:extLst>
                <a:ext uri="{FF2B5EF4-FFF2-40B4-BE49-F238E27FC236}">
                  <a16:creationId xmlns:a16="http://schemas.microsoft.com/office/drawing/2014/main" xmlns="" id="{A237CCBE-32A8-D742-8D32-3450C08AD5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2156334">
              <a:off x="5719763" y="2792413"/>
              <a:ext cx="495300" cy="479425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/>
              <a:endParaRPr lang="en-US" altLang="en-US" dirty="0"/>
            </a:p>
          </p:txBody>
        </p:sp>
        <p:sp>
          <p:nvSpPr>
            <p:cNvPr id="28" name="AutoShape 16">
              <a:extLst>
                <a:ext uri="{FF2B5EF4-FFF2-40B4-BE49-F238E27FC236}">
                  <a16:creationId xmlns:a16="http://schemas.microsoft.com/office/drawing/2014/main" xmlns="" id="{4EAA5455-F16C-F646-B214-68C4630F7A2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4876429">
              <a:off x="5734051" y="4003675"/>
              <a:ext cx="495300" cy="479425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/>
              <a:endParaRPr lang="en-US" altLang="en-US" dirty="0"/>
            </a:p>
          </p:txBody>
        </p:sp>
        <p:sp>
          <p:nvSpPr>
            <p:cNvPr id="29" name="AutoShape 17">
              <a:extLst>
                <a:ext uri="{FF2B5EF4-FFF2-40B4-BE49-F238E27FC236}">
                  <a16:creationId xmlns:a16="http://schemas.microsoft.com/office/drawing/2014/main" xmlns="" id="{87620DCE-E184-144E-99E4-DC8DBD4D33B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299603">
              <a:off x="2919413" y="2770187"/>
              <a:ext cx="495300" cy="479425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/>
              <a:endParaRPr lang="en-US" altLang="en-US" dirty="0"/>
            </a:p>
          </p:txBody>
        </p:sp>
        <p:sp>
          <p:nvSpPr>
            <p:cNvPr id="30" name="AutoShape 18">
              <a:extLst>
                <a:ext uri="{FF2B5EF4-FFF2-40B4-BE49-F238E27FC236}">
                  <a16:creationId xmlns:a16="http://schemas.microsoft.com/office/drawing/2014/main" xmlns="" id="{F1D7E20C-AF09-8242-9E35-287B83314E9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589766">
              <a:off x="2789238" y="3989388"/>
              <a:ext cx="495300" cy="479425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/>
              <a:endParaRPr lang="en-US" altLang="en-US" dirty="0"/>
            </a:p>
          </p:txBody>
        </p:sp>
        <p:sp>
          <p:nvSpPr>
            <p:cNvPr id="31" name="AutoShape 19">
              <a:extLst>
                <a:ext uri="{FF2B5EF4-FFF2-40B4-BE49-F238E27FC236}">
                  <a16:creationId xmlns:a16="http://schemas.microsoft.com/office/drawing/2014/main" xmlns="" id="{14EF9963-AD19-F04D-8F28-ACA53F18AE3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036447">
              <a:off x="3705225" y="4926013"/>
              <a:ext cx="495300" cy="479425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/>
              <a:endParaRPr lang="en-US" altLang="en-US" dirty="0"/>
            </a:p>
          </p:txBody>
        </p:sp>
        <p:sp>
          <p:nvSpPr>
            <p:cNvPr id="32" name="AutoShape 20">
              <a:extLst>
                <a:ext uri="{FF2B5EF4-FFF2-40B4-BE49-F238E27FC236}">
                  <a16:creationId xmlns:a16="http://schemas.microsoft.com/office/drawing/2014/main" xmlns="" id="{0FEA6F3D-62C3-9243-9E82-ACD8C7CD723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595125">
              <a:off x="5033963" y="4933950"/>
              <a:ext cx="495300" cy="479425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/>
              <a:endParaRPr lang="en-US" altLang="en-US" dirty="0"/>
            </a:p>
          </p:txBody>
        </p:sp>
        <p:sp>
          <p:nvSpPr>
            <p:cNvPr id="33" name="Text Box 21">
              <a:extLst>
                <a:ext uri="{FF2B5EF4-FFF2-40B4-BE49-F238E27FC236}">
                  <a16:creationId xmlns:a16="http://schemas.microsoft.com/office/drawing/2014/main" xmlns="" id="{6F2B8CAB-9B1C-4743-8745-E471AB43BD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8300" y="1612900"/>
              <a:ext cx="34337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en-US" sz="1600" dirty="0"/>
                <a:t>1. Material Master Data (QM View)</a:t>
              </a:r>
            </a:p>
          </p:txBody>
        </p:sp>
        <p:sp>
          <p:nvSpPr>
            <p:cNvPr id="34" name="Text Box 23">
              <a:extLst>
                <a:ext uri="{FF2B5EF4-FFF2-40B4-BE49-F238E27FC236}">
                  <a16:creationId xmlns:a16="http://schemas.microsoft.com/office/drawing/2014/main" xmlns="" id="{4868606A-EF81-3945-B2DD-C07B71F782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4470" y="4925604"/>
              <a:ext cx="193065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en-US" altLang="en-US" sz="1600" dirty="0">
                  <a:latin typeface="+mj-lt"/>
                  <a:ea typeface="+mj-ea"/>
                  <a:cs typeface="+mj-cs"/>
                </a:rPr>
                <a:t>4. Master Inspection </a:t>
              </a:r>
            </a:p>
            <a:p>
              <a:pPr algn="ctr" eaLnBrk="1" hangingPunct="1"/>
              <a:r>
                <a:rPr lang="en-US" altLang="en-US" sz="1600" dirty="0">
                  <a:latin typeface="+mj-lt"/>
                  <a:ea typeface="+mj-ea"/>
                  <a:cs typeface="+mj-cs"/>
                </a:rPr>
                <a:t>Characteristics (MIC)</a:t>
              </a:r>
            </a:p>
          </p:txBody>
        </p:sp>
        <p:sp>
          <p:nvSpPr>
            <p:cNvPr id="35" name="Text Box 25">
              <a:extLst>
                <a:ext uri="{FF2B5EF4-FFF2-40B4-BE49-F238E27FC236}">
                  <a16:creationId xmlns:a16="http://schemas.microsoft.com/office/drawing/2014/main" xmlns="" id="{E2449AF8-9419-0948-A45A-65129F912E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5866" y="5714999"/>
              <a:ext cx="164339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en-US" altLang="en-US" sz="1600" dirty="0">
                  <a:latin typeface="+mj-lt"/>
                  <a:ea typeface="+mj-ea"/>
                  <a:cs typeface="+mj-cs"/>
                </a:rPr>
                <a:t>5. Inspection Plan</a:t>
              </a:r>
            </a:p>
          </p:txBody>
        </p:sp>
        <p:sp>
          <p:nvSpPr>
            <p:cNvPr id="36" name="Text Box 26">
              <a:extLst>
                <a:ext uri="{FF2B5EF4-FFF2-40B4-BE49-F238E27FC236}">
                  <a16:creationId xmlns:a16="http://schemas.microsoft.com/office/drawing/2014/main" xmlns="" id="{5CB40EF0-573B-5543-BAE2-6E8324B942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470" y="4501956"/>
              <a:ext cx="1956946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en-US" altLang="en-US" sz="1600" dirty="0">
                  <a:latin typeface="+mj-lt"/>
                  <a:ea typeface="+mj-ea"/>
                  <a:cs typeface="+mj-cs"/>
                </a:rPr>
                <a:t>6. Quality Info Record</a:t>
              </a:r>
            </a:p>
            <a:p>
              <a:pPr algn="ctr" eaLnBrk="1" hangingPunct="1"/>
              <a:r>
                <a:rPr lang="en-US" altLang="en-US" sz="1600" dirty="0">
                  <a:latin typeface="+mj-lt"/>
                  <a:ea typeface="+mj-ea"/>
                  <a:cs typeface="+mj-cs"/>
                </a:rPr>
                <a:t>(Q-Info Record)</a:t>
              </a:r>
            </a:p>
          </p:txBody>
        </p:sp>
        <p:sp>
          <p:nvSpPr>
            <p:cNvPr id="37" name="Text Box 27">
              <a:extLst>
                <a:ext uri="{FF2B5EF4-FFF2-40B4-BE49-F238E27FC236}">
                  <a16:creationId xmlns:a16="http://schemas.microsoft.com/office/drawing/2014/main" xmlns="" id="{2FD7F7AA-07BE-2D49-966E-00CF36F35D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282" y="2868040"/>
              <a:ext cx="181222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 eaLnBrk="1" hangingPunct="1"/>
              <a:r>
                <a:rPr lang="en-US" altLang="en-US" sz="1600" dirty="0">
                  <a:latin typeface="+mj-lt"/>
                  <a:ea typeface="+mj-ea"/>
                  <a:cs typeface="+mj-cs"/>
                </a:rPr>
                <a:t>7. Certificate Profile</a:t>
              </a:r>
            </a:p>
          </p:txBody>
        </p:sp>
      </p:grp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xmlns="" id="{D0D00CFF-9D36-DF4A-850F-FEB4675A00B5}"/>
              </a:ext>
            </a:extLst>
          </p:cNvPr>
          <p:cNvSpPr/>
          <p:nvPr/>
        </p:nvSpPr>
        <p:spPr bwMode="gray">
          <a:xfrm>
            <a:off x="4260401" y="1308189"/>
            <a:ext cx="3867317" cy="477746"/>
          </a:xfrm>
          <a:prstGeom prst="round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 w="57150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90000" tIns="72000" rIns="90000" bIns="7200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en-US" kern="0" dirty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xmlns="" id="{D5E854FE-B243-CC48-B440-29D65343DF66}"/>
              </a:ext>
            </a:extLst>
          </p:cNvPr>
          <p:cNvSpPr/>
          <p:nvPr/>
        </p:nvSpPr>
        <p:spPr bwMode="gray">
          <a:xfrm>
            <a:off x="1734537" y="4315649"/>
            <a:ext cx="2532187" cy="522418"/>
          </a:xfrm>
          <a:prstGeom prst="round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 w="57150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90000" tIns="72000" rIns="90000" bIns="7200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xmlns="" id="{FA416629-482E-D94A-BD90-F69DE5C952E0}"/>
              </a:ext>
            </a:extLst>
          </p:cNvPr>
          <p:cNvSpPr/>
          <p:nvPr/>
        </p:nvSpPr>
        <p:spPr bwMode="gray">
          <a:xfrm>
            <a:off x="8046560" y="2299354"/>
            <a:ext cx="2279650" cy="608547"/>
          </a:xfrm>
          <a:prstGeom prst="round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 w="57150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90000" tIns="72000" rIns="90000" bIns="7200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en-US" kern="0" dirty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xmlns="" id="{9F968B4E-8ABD-BB47-8BC0-3CC88E4381F0}"/>
              </a:ext>
            </a:extLst>
          </p:cNvPr>
          <p:cNvSpPr/>
          <p:nvPr/>
        </p:nvSpPr>
        <p:spPr bwMode="gray">
          <a:xfrm>
            <a:off x="8046560" y="3525964"/>
            <a:ext cx="2279650" cy="608547"/>
          </a:xfrm>
          <a:prstGeom prst="round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 w="57150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90000" tIns="72000" rIns="90000" bIns="7200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en-US" kern="0" dirty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2" name="Text Box 25">
            <a:extLst>
              <a:ext uri="{FF2B5EF4-FFF2-40B4-BE49-F238E27FC236}">
                <a16:creationId xmlns:a16="http://schemas.microsoft.com/office/drawing/2014/main" xmlns="" id="{1F8EB0A9-36BF-1D4F-BB93-3160787D1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3063" y="2336750"/>
            <a:ext cx="146226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 eaLnBrk="1" hangingPunct="1"/>
            <a:r>
              <a:rPr lang="en-US" altLang="en-US" sz="1600" dirty="0"/>
              <a:t>2. Catalogue </a:t>
            </a:r>
            <a:br>
              <a:rPr lang="en-US" altLang="en-US" sz="1600" dirty="0"/>
            </a:br>
            <a:r>
              <a:rPr lang="en-US" altLang="en-US" sz="1600" dirty="0"/>
              <a:t>Selected Set</a:t>
            </a:r>
          </a:p>
        </p:txBody>
      </p:sp>
      <p:sp>
        <p:nvSpPr>
          <p:cNvPr id="44" name="Text Box 25">
            <a:extLst>
              <a:ext uri="{FF2B5EF4-FFF2-40B4-BE49-F238E27FC236}">
                <a16:creationId xmlns:a16="http://schemas.microsoft.com/office/drawing/2014/main" xmlns="" id="{690D329D-46B7-BE44-A472-43F94B1F0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4287" y="3563360"/>
            <a:ext cx="145778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 eaLnBrk="1" hangingPunct="1"/>
            <a:r>
              <a:rPr lang="en-US" altLang="en-US" sz="1600" dirty="0"/>
              <a:t>3. Inspection</a:t>
            </a:r>
          </a:p>
          <a:p>
            <a:pPr algn="ctr" eaLnBrk="1" hangingPunct="1"/>
            <a:r>
              <a:rPr lang="en-US" altLang="en-US" sz="1600" dirty="0"/>
              <a:t> Method</a:t>
            </a:r>
          </a:p>
        </p:txBody>
      </p:sp>
    </p:spTree>
    <p:extLst>
      <p:ext uri="{BB962C8B-B14F-4D97-AF65-F5344CB8AC3E}">
        <p14:creationId xmlns:p14="http://schemas.microsoft.com/office/powerpoint/2010/main" val="1846106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464" y="301451"/>
            <a:ext cx="7515122" cy="624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988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xmlns="" id="{3304A00D-821B-C14F-880F-7589BF8FF7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8494721"/>
              </p:ext>
            </p:extLst>
          </p:nvPr>
        </p:nvGraphicFramePr>
        <p:xfrm>
          <a:off x="2633031" y="187287"/>
          <a:ext cx="5283200" cy="598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r:id="rId3" imgW="5905500" imgH="6172200" progId="Visio.Drawing.11">
                  <p:embed/>
                </p:oleObj>
              </mc:Choice>
              <mc:Fallback>
                <p:oleObj r:id="rId3" imgW="5905500" imgH="617220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3031" y="187287"/>
                        <a:ext cx="5283200" cy="5981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74499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50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 Unicode MS</vt:lpstr>
      <vt:lpstr>Arial</vt:lpstr>
      <vt:lpstr>Calibri</vt:lpstr>
      <vt:lpstr>Calibri Light</vt:lpstr>
      <vt:lpstr>Office Theme</vt:lpstr>
      <vt:lpstr>Microsoft Visio 2003-2010 Drawing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Asim Mahmoud Mohamed Hassan Taweel</dc:creator>
  <cp:lastModifiedBy>Asim Mahmoud Mohamed Hassan Taweel</cp:lastModifiedBy>
  <cp:revision>4</cp:revision>
  <dcterms:created xsi:type="dcterms:W3CDTF">2026-07-24T11:46:10Z</dcterms:created>
  <dcterms:modified xsi:type="dcterms:W3CDTF">2026-07-24T12:20:22Z</dcterms:modified>
</cp:coreProperties>
</file>